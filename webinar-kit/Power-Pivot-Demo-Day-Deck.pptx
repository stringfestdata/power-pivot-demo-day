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Welcome people as they arrive. Confirm they can see your screen and hear you. Mention this is hands-on, so they can follow along or just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free, you're independent, and it runs on testimonials and referrals. Warm, not salesy.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 so people know the arc. Emphasize we go from zero (turning it on) to real time-intelligence by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first. Ask in chat: 'Type 1 if you see a Power Pivot tab, 2 if you don't.' Show the enable steps for anyone who needs them. Reassure Mac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Superstore data. Stress the fact vs. dimension idea in plain English. Fact = the sales numbers; dimensions = the ways we slice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Quick breath, then into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load for orders.xlsx slowly, narrating each click. The key teaching point: Only Create Connection + Add to Data Model. Then load people and returns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Manage. Tour the editor. Make the look-don't-type point and the formatting-flows-to-pivots point. A genuine 'oh nice'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Diagram View. Drag to create the relationships live. This is the VLOOKUP-killer moment, so call it out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We have a model; now let's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PivotTable. Show multiple tables on one pivot, then Distinct Count of Order ID. Ask the room why Count and Distinct Count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slide, keep it short. Implicit = quick but throwaway; explicit = named, reusable, scalable. Don't over-explain; the next slide shows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Total Sales, then Profit Margin live with New Measure. Explain DIVIDE and setting the % format. Show it landing on the pivot.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The part everyone actually came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date table (Design &gt; Date Table &gt; New) and the Order Date &lt;-&gt; Date relationship. Reinforce: no date table, no time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four time measures. Put Date Hierarchy on rows, expand years, drop the measures in. Let them see MTD/YTD/prev-period side by side. This is the wow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what they did. Congratulate them. An hour ago many had never opened Power Pivot.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CTA. The membership is the main ask. Frame as 'where to keep practicing with support.' Drop the link in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CTA. The book for self-paced depth. Drop the link in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them sincerely. Repeat the testimonial/referral ask once more. Leave both links on screen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tringfestdata.gumroad.com/l/mxlais?layout=profile" TargetMode="Externa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stringfestanalytics.com/maxl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</a:t>
            </a:r>
            <a:pPr algn="l" indent="0" marL="0">
              <a:buNone/>
            </a:pPr>
            <a:r>
              <a:rPr lang="en-US" sz="900" spc="300" kern="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</a:t>
            </a:r>
            <a:endParaRPr lang="en-US" sz="1300" dirty="0"/>
          </a:p>
        </p:txBody>
      </p:sp>
      <p:pic>
        <p:nvPicPr>
          <p:cNvPr id="3" name="Image 0" descr="/sessions/jolly-zen-curie/mnt/power-pivot-demo-day/assets/pp-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14400"/>
            <a:ext cx="475488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463040"/>
            <a:ext cx="6583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Pivot</a:t>
            </a:r>
            <a:endParaRPr lang="en-US" sz="5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Day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02920" y="35661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real data model in Excel. No formulas to memorize, no code required.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Mount</a:t>
            </a:r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Stringfest Analytics   |   60-minute live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Welcome, thanks for being 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free Demo Days are made possible by you.
</a:t>
            </a:r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an independent professional. I can keep running these sessions for free thanks to your 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 and referrals</a:t>
            </a:r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If you find today useful, the best thank-you is to tell a colleague and drop me a quick note.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do in the next hour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2704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Power Pivot   </a:t>
            </a:r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the tool is ready in your ribbon.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66928" cy="566928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36829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three tables   </a:t>
            </a:r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Orders, People &amp; Returns into the Data Model.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566928" cy="566928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36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095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relationships   </a:t>
            </a:r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tables in Diagram View, no VLOOKUP needed.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566928" cy="566928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782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05079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Power PivotTable   </a:t>
            </a:r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multiple tables on one pivot.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919472"/>
            <a:ext cx="566928" cy="566928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9194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4892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first measures   </a:t>
            </a:r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DAX with a friendly Profit Margin example.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566928" cy="566928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760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573328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across time   </a:t>
            </a:r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date table for MTD, YTD &amp; period comparisons.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First: do you see a Power Pivot tab?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ships with Excel and it's free. It may just need switching on. If you don't see the tab, turn it 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1671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 ▸  Options  ▸  Add-ins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411480" cy="4114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bottom, set “Manage” to COM Add-ins, then click Go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411480" cy="4114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21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59359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Microsoft Power Pivot for Excel  ▸  OK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411480" cy="4114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34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30682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Pivot tab now appears in your ribbon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51846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Mac or an Excel version without Power Pivot? Stay with me. You'll still follow every concept, and the take-home sheet has notes.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data: the Superstore sample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Excel workbooks in the data folder. Today we'll connect them, not copy-paste them together.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611880" cy="164592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orders.xlsx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sale: product, date, sales, quantity, profit. This is our FACT table: the numbers we measure.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219456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2194560"/>
            <a:ext cx="3611880" cy="164592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people.xlsx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9432" y="31089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regional manager for each region. A DIMENSION (lookup) table.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3024" y="219456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2194560"/>
            <a:ext cx="3611880" cy="164592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returns.xlsx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21624" y="31089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orders were returned. Another DIMENSION table.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table = what you measure (sales). Dimension tables = how you slice it (region, returned vs. not).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 your tables into the Data Model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 each table with Power Query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these steps for orders, people, and returns.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▸  Get Data  ▸  From File  ▸  From Excel Workbook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414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file  ▸  OK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9981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won't transform anything today, so click Load  ▸  Load To…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75818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Only Create Connection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4165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Add this data to the Data Model  ▸  OK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5074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same for the other two workbooks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582472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“Only Create Connection” keeps your worksheet clean. The data lives in the model, not a giant tab.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the Power Pivot editor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tab  ▸  Manage (under Data Model). This opens a separate editor window.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64592" cy="164592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Power Query, you can look but not type over the data.  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view of your model, not a worksheet.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136392"/>
            <a:ext cx="164592" cy="164592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Power Query, make minimal changes here.  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you'll just format and add measures.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096512"/>
            <a:ext cx="164592" cy="164592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776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format your numbers here.  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PivotTables inherit that formatting automatically, a real time-saver.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the tables in Diagram 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View shows your tables as boxes. Drag from a column in one table to the matching column in another to build a relationship. This is what replaces VLOOKUP.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6160" y="3200400"/>
            <a:ext cx="1280160" cy="1371600"/>
          </a:xfrm>
          <a:prstGeom prst="line">
            <a:avLst/>
          </a:prstGeom>
          <a:noFill/>
          <a:ln w="25400">
            <a:solidFill>
              <a:srgbClr val="CF33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200400"/>
            <a:ext cx="1280160" cy="1371600"/>
          </a:xfrm>
          <a:prstGeom prst="line">
            <a:avLst/>
          </a:prstGeom>
          <a:noFill/>
          <a:ln w="254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246888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CF33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468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
</a:t>
            </a:r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420624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C6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06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
</a:t>
            </a:r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95360" y="420624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C6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4206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
</a:t>
            </a:r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Region ↔ Region, and Order ID ↔ Order ID. Excel now knows how the tables fit together.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your first Power PivotTable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looks familiar, but it's more powerful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editor's Diagram View, click PivotTable at the top. Two things a regular PivotTable can't do: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5394960" cy="59436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tables, one pivot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Person (from people) and Sum of Sales (from orders) onto the same PivotTable. They connect through the relationship you built, and Sales is already formatted for you.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2148840"/>
            <a:ext cx="5394960" cy="59436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488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Count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Order ID as a value. Count tells you how many rows. Distinct Count (in the value settings) tells you how many unique orders, which a normal PivotTable simply can't give you.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DAX: implicit vs. explicit measures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“measure” is just a reusable calculation. There are two ways to make one: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(the quick way)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Dragging a field and changing its aggregation in the pivot. Easy, but not reusable or scalable. It's the Macro Recorder of measures.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94960" cy="329184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(the pro way)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7E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the calculation yourself in DAX and name it. Reusable everywhere, easier to maintain, and the habit that scales. This is what we'll do next.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your first measure: Profit Margin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tab  ▸  Measures  ▸  New Measure. Give it a name, then type the formula. It looks just like an Excel table formula: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1554480"/>
          </a:xfrm>
          <a:prstGeom prst="rect">
            <a:avLst/>
          </a:prstGeom>
          <a:solidFill>
            <a:srgbClr val="1F212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2D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:= 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 orders[Sales] )
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2D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Margin := 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 SUM(orders[Profit]), [Total Sales] 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DIVIDE instead of  /  ?  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handles divide-by-zero gracefully. Set the format to Percentage and your margin is ready to drop on any pivot.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always name the table inside the formula, like orders[Sales], not just [Sales]. AutoSum skips this; good habits don't.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 across time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33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a date table: the key to time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compare across months and years, Power Pivot needs a proper calendar. It can build one for you: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57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editor, go to Diagram View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tab  ▸  Date Table  ▸  New  (Excel builds a Calendar table)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relationship: orders[Order Date]  ↔  Calendar[Date]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schema now has a calendar wired into your sales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date table is the single most important ingredient for time intelligence. No date table, no MTD or YTD.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Time-intelligence measures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payoff. Create these measures, then put the Date Hierarchy on Rows and expand the years: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788920"/>
          </a:xfrm>
          <a:prstGeom prst="rect">
            <a:avLst/>
          </a:prstGeom>
          <a:solidFill>
            <a:srgbClr val="1F212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10515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2D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MTD := 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TOTALMTD( [Total Sales], Calendar[Date] )
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2D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YTD := 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TOTALYTD( [Total Sales], Calendar[Date] )
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2D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Prev Month := 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 [Total Sales], PREVIOUSMONTH(Calendar[Date]) )
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2D7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Prev Year := 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 [Total Sales], PREVIOUSYEAR(Calendar[Date]) 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983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these on the pivot and you can compare this month to last, this year to last. These are the questions the business actually asks.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one hour, you learned to…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55648"/>
            <a:ext cx="182880" cy="1828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00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Power Pivot and load tables into the Data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505456"/>
            <a:ext cx="182880" cy="1828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500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relationships instead of wrestling with VLOOKUP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55264"/>
            <a:ext cx="182880" cy="1828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9981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multiple tables on a single PivotTable (and use Distinct Count)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005072"/>
            <a:ext cx="182880" cy="1828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4962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explicit measures in DAX: Total Sales, Profit Margin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82880" cy="1828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5994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date table and analyze MTD, YTD, and prior periods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real, refreshable data model, the foundation of modern analytics in Excel.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Pivot Demo Day  •  Stringfest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Keep the momentum going</a:t>
            </a:r>
            <a:endParaRPr lang="en-US" sz="3200" dirty="0"/>
          </a:p>
        </p:txBody>
      </p:sp>
      <p:pic>
        <p:nvPicPr>
          <p:cNvPr id="3" name="Image 0" descr="/sessions/jolly-zen-curie/mnt/power-pivot-demo-day/assets/member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6459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Modern Excel AI Stack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0" y="25146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membership community for Excel users going modern. Hands-on workshops, templates, and a clear path through Power Query, Power Pivot, and AI tools, with people to ask when you get stuck.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0" y="45262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CF3338"/>
          </a:solidFill>
          <a:ln/>
        </p:spPr>
      </p:sp>
      <p:sp>
        <p:nvSpPr>
          <p:cNvPr id="7" name="Text 4">
            <a:hlinkClick r:id="rId2" tooltip="Join the membership"/>
          </p:cNvPr>
          <p:cNvSpPr/>
          <p:nvPr/>
        </p:nvSpPr>
        <p:spPr>
          <a:xfrm>
            <a:off x="6400800" y="4526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Join the membershi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stringfestdata.gumroad.com/l/mxlais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deeper with the book</a:t>
            </a:r>
            <a:endParaRPr lang="en-US" sz="3200" dirty="0"/>
          </a:p>
        </p:txBody>
      </p:sp>
      <p:pic>
        <p:nvPicPr>
          <p:cNvPr id="3" name="Image 0" descr="/sessions/jolly-zen-curie/mnt/power-pivot-demo-day/asse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54480"/>
            <a:ext cx="278892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64592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Data Analytics in Excel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0" y="269748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O'Reilly book. The same Power Query, Power Pivot, and analytics workflow you saw today, explained step by step, with practice datasets you can work at your own pace.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452628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CF3338"/>
          </a:solidFill>
          <a:ln/>
        </p:spPr>
      </p:sp>
      <p:sp>
        <p:nvSpPr>
          <p:cNvPr id="7" name="Text 4">
            <a:hlinkClick r:id="rId2" tooltip="Get the book"/>
          </p:cNvPr>
          <p:cNvSpPr/>
          <p:nvPr/>
        </p:nvSpPr>
        <p:spPr>
          <a:xfrm>
            <a:off x="4754880" y="4526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Get the boo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stringfestanalytics.com/maxl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free Demo Days run on your goodwill.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testimonial or a referral to a colleague means the world, and keeps them free.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Membership:  </a:t>
            </a:r>
            <a:pPr algn="l" indent="0" marL="0">
              <a:buNone/>
            </a:pPr>
            <a:r>
              <a:rPr lang="en-US" sz="160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stringfestdata.gumroad.com/l/mxlais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Book:  </a:t>
            </a:r>
            <a:pPr algn="l" indent="0" marL="0">
              <a:buNone/>
            </a:pPr>
            <a:r>
              <a:rPr lang="en-US" sz="1600" dirty="0">
                <a:solidFill>
                  <a:srgbClr val="F2D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stringfestanalytics.com/maxl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Stringfest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Pivot Demo Day</dc:title>
  <dc:subject>PptxGenJS Presentation</dc:subject>
  <dc:creator>George Mount, Stringfest Analytics</dc:creator>
  <cp:lastModifiedBy>George Mount, Stringfest Analytics</cp:lastModifiedBy>
  <cp:revision>1</cp:revision>
  <dcterms:created xsi:type="dcterms:W3CDTF">2026-06-17T11:58:08Z</dcterms:created>
  <dcterms:modified xsi:type="dcterms:W3CDTF">2026-06-17T11:58:08Z</dcterms:modified>
</cp:coreProperties>
</file>